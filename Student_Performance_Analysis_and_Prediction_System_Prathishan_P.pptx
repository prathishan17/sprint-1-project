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F5F8FF"/>
                </a:solidFill>
              </a:defRPr>
            </a:pPr>
            <a:r>
              <a:t>Average Marks in Supplied Dataset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</c:v>
                </c:pt>
              </c:strCache>
            </c:strRef>
          </c:tx>
          <c:spPr>
            <a:solidFill>
              <a:srgbClr val="42D3FF"/>
            </a:solidFill>
          </c:spPr>
          <c:cat>
            <c:strRef>
              <c:f>Sheet1!$A$2:$A$6</c:f>
              <c:strCache>
                <c:ptCount val="5"/>
                <c:pt idx="0">
                  <c:v>Tamil</c:v>
                </c:pt>
                <c:pt idx="1">
                  <c:v>English</c:v>
                </c:pt>
                <c:pt idx="2">
                  <c:v>Maths</c:v>
                </c:pt>
                <c:pt idx="3">
                  <c:v>Science</c:v>
                </c:pt>
                <c:pt idx="4">
                  <c:v>Social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78.66666666666667</c:v>
                </c:pt>
                <c:pt idx="1">
                  <c:v>78.83333333333333</c:v>
                </c:pt>
                <c:pt idx="2">
                  <c:v>74.83333333333333</c:v>
                </c:pt>
                <c:pt idx="3">
                  <c:v>59.0</c:v>
                </c:pt>
                <c:pt idx="4">
                  <c:v>68.0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A6B5D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6B5D1"/>
                </a:solidFill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02920"/>
            <a:ext cx="1280160" cy="1280160"/>
          </a:xfrm>
          <a:prstGeom prst="ellipse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188720"/>
            <a:ext cx="640080" cy="64008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554480"/>
            <a:ext cx="411480" cy="411480"/>
          </a:xfrm>
          <a:prstGeom prst="ellipse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73152" cy="416052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960120"/>
            <a:ext cx="214884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010412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226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81328"/>
            <a:ext cx="8686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5F8FF"/>
                </a:solidFill>
                <a:latin typeface="Aptos"/>
              </a:defRPr>
            </a:pPr>
            <a:r>
              <a:t>Student Performance</a:t>
            </a:r>
            <a:br/>
            <a:r>
              <a:t>Analysis and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4436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6B5D1"/>
                </a:solidFill>
                <a:latin typeface="Aptos"/>
              </a:defRPr>
            </a:pPr>
            <a:r>
              <a:t>A web-based platform for analysing marks, managing student records and generating performance predictions.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977639"/>
            <a:ext cx="2926080" cy="9601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977639"/>
            <a:ext cx="54864" cy="96012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41605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4599431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Prathishan 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3977639"/>
            <a:ext cx="2926080" cy="9601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3977639"/>
            <a:ext cx="54864" cy="96012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41605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AF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599431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AF05258593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3977639"/>
            <a:ext cx="2926080" cy="9601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3977639"/>
            <a:ext cx="54864" cy="96012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1" y="41605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Core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1" y="4599431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Python • Flask • SQLite •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What the system is designed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The project combines student record management, academic analysis and machine-learning based prediction in one lightweight web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Centralised storage of student marks and academic details</a:t>
            </a:r>
          </a:p>
          <a:p>
            <a:pPr>
              <a:spcAft>
                <a:spcPts val="10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Automatic total, average and pass/fail calculation</a:t>
            </a:r>
          </a:p>
          <a:p>
            <a:pPr>
              <a:spcAft>
                <a:spcPts val="10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Visual analysis through subject-wise charts</a:t>
            </a:r>
          </a:p>
          <a:p>
            <a:pPr>
              <a:spcAft>
                <a:spcPts val="10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ML model to predict Social Science performance</a:t>
            </a:r>
          </a:p>
          <a:p>
            <a:pPr>
              <a:spcAft>
                <a:spcPts val="10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Excel export for reporting and offline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2514600" cy="14173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4864" cy="141732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783080"/>
            <a:ext cx="475488" cy="475488"/>
          </a:xfrm>
          <a:prstGeom prst="ellipse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6537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783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21992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Login • View result • View 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00200"/>
            <a:ext cx="2514600" cy="14173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1600200"/>
            <a:ext cx="54864" cy="141732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98280" y="1783080"/>
            <a:ext cx="475488" cy="475488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6537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1783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Teachers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2221992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Register/login • Manage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46120"/>
            <a:ext cx="2514600" cy="14173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54864" cy="141732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3429000"/>
            <a:ext cx="475488" cy="475488"/>
          </a:xfrm>
          <a:prstGeom prst="ellipse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1129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867911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Charts • Totals • Averages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246120"/>
            <a:ext cx="2514600" cy="14173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3246120"/>
            <a:ext cx="54864" cy="14173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98280" y="3429000"/>
            <a:ext cx="475488" cy="475488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51129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429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1" y="3867911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Linear Regression based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Key goals implemented in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2971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D3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Convert raw marks into totals, averages and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514600" cy="2971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057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66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46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Maintain student and teacher records with SQLite.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514600" cy="2971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E2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Present subject-wise performance using charts.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514600" cy="2971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57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2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46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Use a trained ML model to estimate Social marks.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From data entry to analysis and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874519" cy="1828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D3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6B5D1"/>
                </a:solidFill>
                <a:latin typeface="Aptos"/>
              </a:defRPr>
            </a:pPr>
            <a:r>
              <a:t>Student marks</a:t>
            </a:r>
            <a:br/>
            <a:r>
              <a:t>&amp; details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971800"/>
            <a:ext cx="393192" cy="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057400"/>
            <a:ext cx="1874519" cy="1828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E2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06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108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6B5D1"/>
                </a:solidFill>
                <a:latin typeface="Aptos"/>
              </a:defRPr>
            </a:pPr>
            <a:r>
              <a:t>Total + average</a:t>
            </a:r>
            <a:br/>
            <a:r>
              <a:t>+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79" y="2971800"/>
            <a:ext cx="393193" cy="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12079" y="2057400"/>
            <a:ext cx="1874519" cy="1828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1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66E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1" y="2606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1" y="3108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6B5D1"/>
                </a:solidFill>
                <a:latin typeface="Aptos"/>
              </a:defRPr>
            </a:pPr>
            <a:r>
              <a:t>SQLite database</a:t>
            </a:r>
            <a:br/>
            <a:r>
              <a:t>records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599" y="2971800"/>
            <a:ext cx="393193" cy="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43800" y="2057400"/>
            <a:ext cx="1874519" cy="1828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8392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2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2606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108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6B5D1"/>
                </a:solidFill>
                <a:latin typeface="Aptos"/>
              </a:defRPr>
            </a:pPr>
            <a:r>
              <a:t>Linear Regression</a:t>
            </a:r>
            <a:br/>
            <a:r>
              <a:t>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20" y="2971800"/>
            <a:ext cx="393192" cy="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19" y="2057400"/>
            <a:ext cx="1874519" cy="18288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1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3E09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1" y="2606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1" y="3108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6B5D1"/>
                </a:solidFill>
                <a:latin typeface="Aptos"/>
              </a:defRPr>
            </a:pPr>
            <a:r>
              <a:t>Charts + Excel</a:t>
            </a:r>
            <a:br/>
            <a: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ptos"/>
              </a:defRPr>
            </a:pPr>
            <a:r>
              <a:t>User action → application logic → persistent data → machine-learning prediction → usable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Application layers and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600200"/>
            <a:ext cx="845820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7556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28216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HTML • CSS • JavaScript</a:t>
            </a:r>
            <a:br/>
            <a:r>
              <a:t>Student &amp; Teacher screens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1783080"/>
            <a:ext cx="438912" cy="438912"/>
          </a:xfrm>
          <a:prstGeom prst="ellipse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865376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97480"/>
            <a:ext cx="845820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28529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25496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Python + Flask</a:t>
            </a:r>
            <a:br/>
            <a:r>
              <a:t>Routes, sessions &amp; business logic</a:t>
            </a:r>
          </a:p>
        </p:txBody>
      </p:sp>
      <p:sp>
        <p:nvSpPr>
          <p:cNvPr id="14" name="Oval 13"/>
          <p:cNvSpPr/>
          <p:nvPr/>
        </p:nvSpPr>
        <p:spPr>
          <a:xfrm>
            <a:off x="1325880" y="2880360"/>
            <a:ext cx="438912" cy="438912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962656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794760"/>
            <a:ext cx="845820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9502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22776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SQLite databases</a:t>
            </a:r>
            <a:br/>
            <a:r>
              <a:t>Student / teacher / room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1325880" y="3977640"/>
            <a:ext cx="438912" cy="438912"/>
          </a:xfrm>
          <a:prstGeom prst="ellipse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059936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892040"/>
            <a:ext cx="845820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50474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ML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020055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scikit-learn Linear Regression</a:t>
            </a:r>
            <a:br/>
            <a:r>
              <a:t>student_performance_model.pkl</a:t>
            </a:r>
          </a:p>
        </p:txBody>
      </p:sp>
      <p:sp>
        <p:nvSpPr>
          <p:cNvPr id="24" name="Oval 23"/>
          <p:cNvSpPr/>
          <p:nvPr/>
        </p:nvSpPr>
        <p:spPr>
          <a:xfrm>
            <a:off x="1325880" y="5074920"/>
            <a:ext cx="438912" cy="438912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157216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Machine Learning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How the prediction component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132588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13258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28072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21992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Excel dataset is cleaned, numeric columns are prepared and missing values are handled.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3246120" cy="132588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154680"/>
            <a:ext cx="54864" cy="132588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337560"/>
            <a:ext cx="28072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776472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Tamil + English + Maths + Science marks are used as input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00200"/>
            <a:ext cx="3246120" cy="132588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600200"/>
            <a:ext cx="54864" cy="132588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783080"/>
            <a:ext cx="28072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221992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Linear Regression is trained using a train/test split with a fixed random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154680"/>
            <a:ext cx="3246120" cy="132588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154680"/>
            <a:ext cx="54864" cy="132588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337560"/>
            <a:ext cx="28072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776472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The model predicts Social Science marks, which are used with pass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600200"/>
            <a:ext cx="3246120" cy="2880360"/>
          </a:xfrm>
          <a:prstGeom prst="roundRect">
            <a:avLst/>
          </a:prstGeom>
          <a:solidFill>
            <a:srgbClr val="121D38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t>Prediction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423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D3FF"/>
                </a:solidFill>
                <a:latin typeface="Aptos"/>
              </a:defRPr>
            </a:pPr>
            <a:r>
              <a:t>4 subject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8072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1912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66EFF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5753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9593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25C"/>
                </a:solidFill>
                <a:latin typeface="Aptos"/>
              </a:defRPr>
            </a:pPr>
            <a:r>
              <a:t>Predicted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66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Implementation note: the current application uses the trained model during student entry; editing an existing record recalculates the result using the entered marks.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Major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Functional coverage visible in the uploaded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383280" cy="16459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864" cy="164592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83080"/>
            <a:ext cx="475488" cy="475488"/>
          </a:xfrm>
          <a:prstGeom prst="ellipse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6537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Student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2199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Student login</a:t>
            </a:r>
            <a:br/>
            <a:r>
              <a:t>View result</a:t>
            </a:r>
            <a:br/>
            <a:r>
              <a:t>View room allocation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383280" cy="16459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54864" cy="164592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783080"/>
            <a:ext cx="475488" cy="475488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6537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Teacher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22199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Register/login</a:t>
            </a:r>
            <a:br/>
            <a:r>
              <a:t>Dashboard</a:t>
            </a:r>
            <a:br/>
            <a:r>
              <a:t>Student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00200"/>
            <a:ext cx="3383280" cy="16459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00200"/>
            <a:ext cx="54864" cy="164592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200" y="1783080"/>
            <a:ext cx="475488" cy="475488"/>
          </a:xfrm>
          <a:prstGeom prst="ellipse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86537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22199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Mark entry</a:t>
            </a:r>
            <a:br/>
            <a:r>
              <a:t>Automatic total &amp; average</a:t>
            </a:r>
            <a:br/>
            <a:r>
              <a:t>Pass / Fail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3383280" cy="16459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11880"/>
            <a:ext cx="54864" cy="16459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3794760"/>
            <a:ext cx="475488" cy="475488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770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794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23367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Subject-wise bar chart</a:t>
            </a:r>
            <a:br/>
            <a:r>
              <a:t>Performance summaries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3611880"/>
            <a:ext cx="3383280" cy="16459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611880"/>
            <a:ext cx="54864" cy="1645920"/>
          </a:xfrm>
          <a:prstGeom prst="rect">
            <a:avLst/>
          </a:prstGeom>
          <a:solidFill>
            <a:srgbClr val="53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40" y="3794760"/>
            <a:ext cx="475488" cy="475488"/>
          </a:xfrm>
          <a:prstGeom prst="ellipse">
            <a:avLst/>
          </a:prstGeom>
          <a:solidFill>
            <a:srgbClr val="53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8770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794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Data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2" y="423367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Generate Excel report</a:t>
            </a:r>
            <a:br/>
            <a:r>
              <a:t>Download student 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611880"/>
            <a:ext cx="3383280" cy="16459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611880"/>
            <a:ext cx="54864" cy="1645920"/>
          </a:xfrm>
          <a:prstGeom prst="rect">
            <a:avLst/>
          </a:prstGeom>
          <a:solidFill>
            <a:srgbClr val="FF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58200" y="3794760"/>
            <a:ext cx="475488" cy="475488"/>
          </a:xfrm>
          <a:prstGeom prst="ellipse">
            <a:avLst/>
          </a:prstGeom>
          <a:solidFill>
            <a:srgbClr val="FF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38770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122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794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423367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Room allocation</a:t>
            </a:r>
            <a:br/>
            <a:r>
              <a:t>Edit / delete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Technology Stack &amp; Sample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Technologies and the supplied project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20040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864" cy="114300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761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20040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" cy="114300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08960"/>
            <a:ext cx="2761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Python • Flask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320040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54864" cy="114300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480560"/>
            <a:ext cx="2761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Data &amp;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9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SQLite • Pandas • NumPy • scikit-learn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51960" y="150876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97680" y="598932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6B5D1"/>
                </a:solidFill>
                <a:latin typeface="Aptos"/>
              </a:defRPr>
            </a:pPr>
            <a:r>
              <a:t>Based on the 6 student records included in students_data.xlsx.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Important project components identified from the source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66360" cy="11887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4864" cy="118872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91639"/>
            <a:ext cx="4727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055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Main Flask application with routes for login, student management, analytics, export and room 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66360" cy="11887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864" cy="118872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39"/>
            <a:ext cx="4727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train_model.py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3055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Prepares the Excel data and trains a Linear Regression model for Social Science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5166360" cy="11887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4864" cy="11887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200400"/>
            <a:ext cx="4727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student_performance_model.pkl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6393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Saved trained model loaded by the application for prediction.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166360" cy="11887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54864" cy="118872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200400"/>
            <a:ext cx="4727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database.db / students.db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6393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SQLite-backed persistence for student and application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79"/>
            <a:ext cx="5166360" cy="11887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26279"/>
            <a:ext cx="54864" cy="1188720"/>
          </a:xfrm>
          <a:prstGeom prst="rect">
            <a:avLst/>
          </a:prstGeom>
          <a:solidFill>
            <a:srgbClr val="53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709159"/>
            <a:ext cx="4727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templates/ + static/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48071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HTML templates, CSS and JavaScript that form the web interface.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26279"/>
            <a:ext cx="5166360" cy="118872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526279"/>
            <a:ext cx="54864" cy="1188720"/>
          </a:xfrm>
          <a:prstGeom prst="rect">
            <a:avLst/>
          </a:prstGeom>
          <a:solidFill>
            <a:srgbClr val="FF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709159"/>
            <a:ext cx="4727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students_data.xlsx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5148071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Input / reporting dataset containing subject marks and calculated outcomes.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Recommended minimum setup for development and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7492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114300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91639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055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Intel Core i3 / AMD Ryzen 3 or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07492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864" cy="114300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39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3055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4 GB minimum • 8 GB recommended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07492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54864" cy="114300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5468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9359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At least 2 GB free space for project + Python 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07492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54864" cy="114300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15468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59359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1366 × 768 resolution or higher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34840"/>
            <a:ext cx="507492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434840"/>
            <a:ext cx="54864" cy="1143000"/>
          </a:xfrm>
          <a:prstGeom prst="rect">
            <a:avLst/>
          </a:prstGeom>
          <a:solidFill>
            <a:srgbClr val="53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61772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056631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Localhost is sufficient; internet only needed for package installation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074920" cy="114300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434840"/>
            <a:ext cx="54864" cy="1143000"/>
          </a:xfrm>
          <a:prstGeom prst="rect">
            <a:avLst/>
          </a:prstGeom>
          <a:solidFill>
            <a:srgbClr val="FF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61772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5056631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Keyboard and mouse / touchpad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6B5D1"/>
                </a:solidFill>
                <a:latin typeface="Aptos"/>
              </a:defRPr>
            </a:pPr>
            <a:r>
              <a:t>Practical recommendations for running the supplied Flask application and its ML workflow.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B5D1"/>
                </a:solidFill>
                <a:latin typeface="Aptos"/>
              </a:defRPr>
            </a:pPr>
            <a:r>
              <a:t>Environment and libraries reflected in the uploaded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82296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91639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0552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Windows / Linux / macOS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60320"/>
            <a:ext cx="54864" cy="82296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74320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182112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Python 3.x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79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611879"/>
            <a:ext cx="54864" cy="82296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794759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233672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63440"/>
            <a:ext cx="54864" cy="822960"/>
          </a:xfrm>
          <a:prstGeom prst="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84632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285231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508760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508760"/>
            <a:ext cx="54864" cy="82296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691639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Libraries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2130552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NumPy • Pandas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560320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2560320"/>
            <a:ext cx="54864" cy="82296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74320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182112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Matplotlib • Seaborn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611879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611879"/>
            <a:ext cx="54864" cy="822960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794759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ML /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4233672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scikit-learn • joblib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663440"/>
            <a:ext cx="5074920" cy="8229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663440"/>
            <a:ext cx="54864" cy="82296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846320"/>
            <a:ext cx="4636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Data / 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5285231"/>
            <a:ext cx="46177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6B5D1"/>
                </a:solidFill>
                <a:latin typeface="Aptos"/>
              </a:defRPr>
            </a:pPr>
            <a:r>
              <a:t>openpyxl • Excel (.xlsx)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A6B5D1"/>
                </a:solidFill>
                <a:latin typeface="Aptos"/>
              </a:defRPr>
            </a:pPr>
            <a:r>
              <a:t>requirements.txt explicitly pins NumPy 1.26.4, Matplotlib 3.8.4, Seaborn 0.13.2 and openpyxl 3.1.2.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4480560"/>
          </a:xfrm>
          <a:prstGeom prst="roundRect">
            <a:avLst/>
          </a:prstGeom>
          <a:solidFill>
            <a:srgbClr val="182646"/>
          </a:solidFill>
          <a:ln>
            <a:solidFill>
              <a:srgbClr val="39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600200"/>
            <a:ext cx="1325880" cy="310896"/>
          </a:xfrm>
          <a:prstGeom prst="roundRect">
            <a:avLst/>
          </a:prstGeom>
          <a:solidFill>
            <a:srgbClr val="2BE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504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22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8FF"/>
                </a:solidFill>
                <a:latin typeface="Aptos"/>
              </a:defRPr>
            </a:pPr>
            <a:r>
              <a:t>A practical student-performance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B5D1"/>
                </a:solidFill>
                <a:latin typeface="Aptos"/>
              </a:defRPr>
            </a:pPr>
            <a:r>
              <a:t>The system brings together academic data management, automated performance calculation, visual analytics and machine-learning prediction in a single Flask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605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F5F8FF"/>
                </a:solidFill>
                <a:latin typeface="Aptos"/>
              </a:defRPr>
            </a:pPr>
            <a:r>
              <a:t>• Reduces repetitive manual calculations and record handling</a:t>
            </a:r>
          </a:p>
          <a:p>
            <a:pPr>
              <a:spcAft>
                <a:spcPts val="1000"/>
              </a:spcAft>
              <a:defRPr sz="1250">
                <a:solidFill>
                  <a:srgbClr val="F5F8FF"/>
                </a:solidFill>
                <a:latin typeface="Aptos"/>
              </a:defRPr>
            </a:pPr>
            <a:r>
              <a:t>• Provides a clear path from raw marks to useful academic information</a:t>
            </a:r>
          </a:p>
          <a:p>
            <a:pPr>
              <a:spcAft>
                <a:spcPts val="1000"/>
              </a:spcAft>
              <a:defRPr sz="1250">
                <a:solidFill>
                  <a:srgbClr val="F5F8FF"/>
                </a:solidFill>
                <a:latin typeface="Aptos"/>
              </a:defRPr>
            </a:pPr>
            <a:r>
              <a:t>• Creates a foundation for future enhancements such as richer prediction models and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978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2D3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6B5D1"/>
                </a:solidFill>
                <a:latin typeface="Aptos"/>
              </a:defRPr>
            </a:pPr>
            <a:r>
              <a:t>STUDENT PERFORMANCE ANALYSIS &amp; PREDICTION SYSTEM   •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